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1695" cy="6858000" type="custom"/>
  <p:notesSz cx="12191695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
</Relationships>
</file>

<file path=ppt/slides/_rels/slide1.xml.rels><?xml version="1.0" encoding="UTF-8" standalone="yes"?>
<Relationships xmlns="http://schemas.openxmlformats.org/package/2006/relationships">
</Relationships>
</file>

<file path=ppt/slides/_rels/slide2.xml.rels><?xml version="1.0" encoding="UTF-8" standalone="yes"?>
<Relationships xmlns="http://schemas.openxmlformats.org/package/2006/relationships">
</Relationships>
</file>

<file path=ppt/slides/_rels/slide3.xml.rels><?xml version="1.0" encoding="UTF-8" standalone="yes"?>
<Relationships xmlns="http://schemas.openxmlformats.org/package/2006/relationships">
</Relationships>
</file>

<file path=ppt/slides/_rels/slide4.xml.rels><?xml version="1.0" encoding="UTF-8" standalone="yes"?>
<Relationships xmlns="http://schemas.openxmlformats.org/package/2006/relationships">
</Relationships>
</file>

<file path=ppt/slides/_rels/slide5.xml.rels><?xml version="1.0" encoding="UTF-8" standalone="yes"?>
<Relationships xmlns="http://schemas.openxmlformats.org/package/2006/relationships">
</Relationships>
</file>

<file path=ppt/slides/_rels/slide6.xml.rels><?xml version="1.0" encoding="UTF-8" standalone="yes"?>
<Relationships xmlns="http://schemas.openxmlformats.org/package/2006/relationships">
</Relationships>
</file>

<file path=ppt/slides/_rels/slide7.xml.rels><?xml version="1.0" encoding="UTF-8" standalone="yes"?>
<Relationships xmlns="http://schemas.openxmlformats.org/package/2006/relationships">
</Relationships>
</file>

<file path=ppt/slides/_rels/slide8.xml.rels><?xml version="1.0" encoding="UTF-8" standalone="yes"?>
<Relationships xmlns="http://schemas.openxmlformats.org/package/2006/relationships">
</Relationships>
</file>

<file path=ppt/slides/_rels/slide9.xml.rels><?xml version="1.0" encoding="UTF-8" standalone="yes"?>
<Relationships xmlns="http://schemas.openxmlformats.org/package/2006/relationships">
</Relationships>
</file>

<file path=ppt/slides/_rels/slide10.xml.rels><?xml version="1.0" encoding="UTF-8" standalone="yes"?>
<Relationships xmlns="http://schemas.openxmlformats.org/package/2006/relationships">
</Relationships>
</file>

<file path=ppt/slides/_rels/slide11.xml.rels><?xml version="1.0" encoding="UTF-8" standalone="yes"?>
<Relationships xmlns="http://schemas.openxmlformats.org/package/2006/relationships">
</Relationships>
</file>

<file path=ppt/slides/_rels/slide12.xml.rels><?xml version="1.0" encoding="UTF-8" standalone="yes"?>
<Relationships xmlns="http://schemas.openxmlformats.org/package/2006/relationships">
</Relationships>
</file>

<file path=ppt/slides/_rels/slide13.xml.rels><?xml version="1.0" encoding="UTF-8" standalone="yes"?>
<Relationships xmlns="http://schemas.openxmlformats.org/package/2006/relationships">
</Relationships>
</file>

<file path=ppt/slides/_rels/slide14.xml.rels><?xml version="1.0" encoding="UTF-8" standalone="yes"?>
<Relationships xmlns="http://schemas.openxmlformats.org/package/2006/relationships">
</Relationships>
</file>

<file path=ppt/slides/_rels/slide15.xml.rels><?xml version="1.0" encoding="UTF-8" standalone="yes"?>
<Relationships xmlns="http://schemas.openxmlformats.org/package/2006/relationships">
</Relationships>
</file>

<file path=ppt/slides/_rels/slide16.xml.rels><?xml version="1.0" encoding="UTF-8" standalone="yes"?>
<Relationships xmlns="http://schemas.openxmlformats.org/package/2006/relationships"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line"/>
          <p:cNvSpPr/>
          <p:nvPr/>
        </p:nvSpPr>
        <p:spPr>
          <a:xfrm>
            <a:off x="0" y="5029200"/>
            <a:ext cx="12191695" cy="7315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Segoe UI"/>
              </a:rPr>
              <a:t>PRIMARY LEDGER</a:t>
            </a:r>
          </a:p>
        </p:txBody>
      </p:sp>
      <p:sp>
        <p:nvSpPr>
          <p:cNvPr id="5" name="sub"/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Segoe UI"/>
              </a:rPr>
              <a:t>Oracle Fusion Cloud Financials - General Ledger</a:t>
            </a:r>
          </a:p>
        </p:txBody>
      </p:sp>
      <p:sp>
        <p:nvSpPr>
          <p:cNvPr id="6" name="info"/>
          <p:cNvSpPr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dirty="0">
                <a:solidFill>
                  <a:srgbClr val="3A7CBD"/>
                </a:solidFill>
                <a:latin typeface="Segoe UI"/>
              </a:rPr>
              <a:t>Functional Consultant Training</a:t>
            </a:r>
          </a:p>
        </p:txBody>
      </p:sp>
      <p:sp>
        <p:nvSpPr>
          <p:cNvPr id="7" name="date"/>
          <p:cNvSpPr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Segoe UI"/>
              </a:rPr>
              <a:t>Prepared by: Rahul | Date: May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Segoe UI"/>
              </a:rPr>
              <a:t>What is a Primary Ledger?</a:t>
            </a:r>
          </a:p>
        </p:txBody>
      </p:sp>
      <p:sp>
        <p:nvSpPr>
          <p:cNvPr id="4" name="def"/>
          <p:cNvSpPr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000" b="1" dirty="0">
                <a:solidFill>
                  <a:srgbClr val="1B2A4A"/>
                </a:solidFill>
                <a:latin typeface="Segoe UI"/>
              </a:rPr>
              <a:t>A Primary Ledger is the MAIN accounting record for a Legal Entity in Oracle Fusion.</a:t>
            </a:r>
          </a:p>
        </p:txBody>
      </p:sp>
      <p:sp>
        <p:nvSpPr>
          <p:cNvPr id="5" name="bullets"/>
          <p:cNvSpPr txBox="1"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 marL="457200" indent="-228600"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/>
              </a:rPr>
              <a:t>It is the single source of truth for all financial transactions</a:t>
            </a:r>
          </a:p>
          <a:p>
            <a:pPr algn="l" marL="457200" indent="-228600"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/>
              </a:rPr>
              <a:t>Every Legal Entity MUST have exactly ONE Primary Ledger</a:t>
            </a:r>
          </a:p>
          <a:p>
            <a:pPr algn="l" marL="457200" indent="-228600"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/>
              </a:rPr>
              <a:t>Records transactions in the functional (local) currency</a:t>
            </a:r>
          </a:p>
          <a:p>
            <a:pPr algn="l" marL="457200" indent="-228600"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/>
              </a:rPr>
              <a:t>Used for statutory reporting, tax compliance, and management reporting</a:t>
            </a:r>
          </a:p>
          <a:p>
            <a:pPr algn="l" marL="457200" indent="-228600"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/>
              </a:rPr>
              <a:t>All subledger journals (AP, AR, FA) post to the Primary Ledger</a:t>
            </a:r>
          </a:p>
          <a:p>
            <a:pPr algn="l" marL="457200" indent="-228600">
              <a:buChar char="•"/>
            </a:pPr>
            <a:r>
              <a:rPr lang="en-US" sz="1800" dirty="0">
                <a:solidFill>
                  <a:srgbClr val="333333"/>
                </a:solidFill>
                <a:latin typeface="Segoe UI"/>
              </a:rPr>
              <a:t>Cannot be deleted once transactions are posted</a:t>
            </a:r>
          </a:p>
        </p:txBody>
      </p:sp>
      <p:sp>
        <p:nvSpPr>
          <p:cNvPr id="6" name="key"/>
          <p:cNvSpPr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 dirty="0">
                <a:solidFill>
                  <a:srgbClr val="2C5F8A"/>
                </a:solidFill>
                <a:latin typeface="Segoe UI"/>
              </a:rPr>
              <a:t>KEY: Primary Ledger = COA + Calendar + Currency + Convention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3000" b="1" dirty="0">
                <a:solidFill>
                  <a:srgbClr val="FFFFFF"/>
                </a:solidFill>
                <a:latin typeface="Segoe UI"/>
              </a:rPr>
              <a:t>4 Mandatory Components of a Primary Ledger</a:t>
            </a:r>
          </a:p>
        </p:txBody>
      </p:sp>
      <p:sp>
        <p:nvSpPr>
          <p:cNvPr id="4" name="box0"/>
          <p:cNvSpPr/>
          <p:nvPr/>
        </p:nvSpPr>
        <p:spPr>
          <a:xfrm>
            <a:off x="457200" y="1645920"/>
            <a:ext cx="2651760" cy="1828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2C5F8A"/>
                </a:solidFill>
                <a:latin typeface="Segoe UI"/>
              </a:rPr>
              <a:t>1. Chart of Accounts</a:t>
            </a:r>
          </a:p>
          <a:p>
            <a:pPr algn="ctr"/>
            <a:r>
              <a:rPr lang="en-US" sz="1500" b="1" dirty="0">
                <a:solidFill>
                  <a:srgbClr val="2C5F8A"/>
                </a:solidFill>
                <a:latin typeface="Segoe UI"/>
              </a:rPr>
              <a:t>(COA)</a:t>
            </a:r>
          </a:p>
        </p:txBody>
      </p:sp>
      <p:sp>
        <p:nvSpPr>
          <p:cNvPr id="5" name="desc0"/>
          <p:cNvSpPr/>
          <p:nvPr/>
        </p:nvSpPr>
        <p:spPr>
          <a:xfrm>
            <a:off x="457200" y="3566160"/>
            <a:ext cx="265176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Defines account</a:t>
            </a:r>
          </a:p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structure &amp; segments</a:t>
            </a:r>
          </a:p>
        </p:txBody>
      </p:sp>
      <p:sp>
        <p:nvSpPr>
          <p:cNvPr id="6" name="box1"/>
          <p:cNvSpPr/>
          <p:nvPr/>
        </p:nvSpPr>
        <p:spPr>
          <a:xfrm>
            <a:off x="3383280" y="1645920"/>
            <a:ext cx="2651760" cy="1828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2C5F8A"/>
                </a:solidFill>
                <a:latin typeface="Segoe UI"/>
              </a:rPr>
              <a:t>2. Accounting</a:t>
            </a:r>
          </a:p>
          <a:p>
            <a:pPr algn="ctr"/>
            <a:r>
              <a:rPr lang="en-US" sz="1500" b="1" dirty="0">
                <a:solidFill>
                  <a:srgbClr val="2C5F8A"/>
                </a:solidFill>
                <a:latin typeface="Segoe UI"/>
              </a:rPr>
              <a:t>Calendar</a:t>
            </a:r>
          </a:p>
        </p:txBody>
      </p:sp>
      <p:sp>
        <p:nvSpPr>
          <p:cNvPr id="7" name="desc1"/>
          <p:cNvSpPr/>
          <p:nvPr/>
        </p:nvSpPr>
        <p:spPr>
          <a:xfrm>
            <a:off x="3383280" y="3566160"/>
            <a:ext cx="265176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Defines fiscal year</a:t>
            </a:r>
          </a:p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and periods</a:t>
            </a:r>
          </a:p>
        </p:txBody>
      </p:sp>
      <p:sp>
        <p:nvSpPr>
          <p:cNvPr id="8" name="box2"/>
          <p:cNvSpPr/>
          <p:nvPr/>
        </p:nvSpPr>
        <p:spPr>
          <a:xfrm>
            <a:off x="6309360" y="1645920"/>
            <a:ext cx="2651760" cy="1828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2C5F8A"/>
                </a:solidFill>
                <a:latin typeface="Segoe UI"/>
              </a:rPr>
              <a:t>3. Currency</a:t>
            </a:r>
          </a:p>
        </p:txBody>
      </p:sp>
      <p:sp>
        <p:nvSpPr>
          <p:cNvPr id="9" name="desc2"/>
          <p:cNvSpPr/>
          <p:nvPr/>
        </p:nvSpPr>
        <p:spPr>
          <a:xfrm>
            <a:off x="6309360" y="3566160"/>
            <a:ext cx="265176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Functional currency</a:t>
            </a:r>
          </a:p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for the ledger</a:t>
            </a:r>
          </a:p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(USD, INR, GBP)</a:t>
            </a:r>
          </a:p>
        </p:txBody>
      </p:sp>
      <p:sp>
        <p:nvSpPr>
          <p:cNvPr id="10" name="box3"/>
          <p:cNvSpPr/>
          <p:nvPr/>
        </p:nvSpPr>
        <p:spPr>
          <a:xfrm>
            <a:off x="9235440" y="1645920"/>
            <a:ext cx="2651760" cy="1828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2C5F8A"/>
                </a:solidFill>
                <a:latin typeface="Segoe UI"/>
              </a:rPr>
              <a:t>4. Accounting</a:t>
            </a:r>
          </a:p>
          <a:p>
            <a:pPr algn="ctr"/>
            <a:r>
              <a:rPr lang="en-US" sz="1500" b="1" dirty="0">
                <a:solidFill>
                  <a:srgbClr val="2C5F8A"/>
                </a:solidFill>
                <a:latin typeface="Segoe UI"/>
              </a:rPr>
              <a:t>Convention</a:t>
            </a:r>
          </a:p>
        </p:txBody>
      </p:sp>
      <p:sp>
        <p:nvSpPr>
          <p:cNvPr id="11" name="desc3"/>
          <p:cNvSpPr/>
          <p:nvPr/>
        </p:nvSpPr>
        <p:spPr>
          <a:xfrm>
            <a:off x="9235440" y="3566160"/>
            <a:ext cx="2651760" cy="1645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Accrual or Cash</a:t>
            </a:r>
          </a:p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basis accounting</a:t>
            </a:r>
          </a:p>
        </p:txBody>
      </p:sp>
      <p:sp>
        <p:nvSpPr>
          <p:cNvPr id="20" name="center"/>
          <p:cNvSpPr/>
          <p:nvPr/>
        </p:nvSpPr>
        <p:spPr>
          <a:xfrm>
            <a:off x="2743200" y="5486400"/>
            <a:ext cx="6400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Segoe UI"/>
              </a:rPr>
              <a:t>PRIMARY LEDGER = COA + Calendar + Currency + Convention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274320" y="137160"/>
            <a:ext cx="114300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600" b="1" dirty="0">
                <a:solidFill>
                  <a:srgbClr val="FFFFFF"/>
                </a:solidFill>
                <a:latin typeface="Segoe UI"/>
              </a:rPr>
              <a:t>Primary vs Secondary Ledger vs Reporting Currency</a:t>
            </a:r>
          </a:p>
        </p:txBody>
      </p:sp>
      <p:sp>
        <p:nvSpPr>
          <p:cNvPr id="10" name="cell_0_0"/>
          <p:cNvSpPr/>
          <p:nvPr/>
        </p:nvSpPr>
        <p:spPr>
          <a:xfrm>
            <a:off x="274320" y="1371600"/>
            <a:ext cx="2834640" cy="6400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" name="cell_0_1"/>
          <p:cNvSpPr/>
          <p:nvPr/>
        </p:nvSpPr>
        <p:spPr>
          <a:xfrm>
            <a:off x="3108960" y="1371600"/>
            <a:ext cx="2834640" cy="6400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</a:rPr>
              <a:t>Primary Ledger</a:t>
            </a:r>
          </a:p>
        </p:txBody>
      </p:sp>
      <p:sp>
        <p:nvSpPr>
          <p:cNvPr id="12" name="cell_0_2"/>
          <p:cNvSpPr/>
          <p:nvPr/>
        </p:nvSpPr>
        <p:spPr>
          <a:xfrm>
            <a:off x="5943600" y="1371600"/>
            <a:ext cx="2834640" cy="6400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</a:rPr>
              <a:t>Secondary Ledger</a:t>
            </a:r>
          </a:p>
        </p:txBody>
      </p:sp>
      <p:sp>
        <p:nvSpPr>
          <p:cNvPr id="13" name="cell_0_3"/>
          <p:cNvSpPr/>
          <p:nvPr/>
        </p:nvSpPr>
        <p:spPr>
          <a:xfrm>
            <a:off x="8778240" y="1371600"/>
            <a:ext cx="2834640" cy="6400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</a:rPr>
              <a:t>Reporting Currency</a:t>
            </a:r>
          </a:p>
        </p:txBody>
      </p:sp>
      <p:sp>
        <p:nvSpPr>
          <p:cNvPr id="14" name="cell_1_0"/>
          <p:cNvSpPr/>
          <p:nvPr/>
        </p:nvSpPr>
        <p:spPr>
          <a:xfrm>
            <a:off x="274320" y="2011680"/>
            <a:ext cx="2834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1B2A4A"/>
                </a:solidFill>
                <a:latin typeface="Segoe UI"/>
              </a:rPr>
              <a:t>Purpose</a:t>
            </a:r>
          </a:p>
        </p:txBody>
      </p:sp>
      <p:sp>
        <p:nvSpPr>
          <p:cNvPr id="15" name="cell_1_1"/>
          <p:cNvSpPr/>
          <p:nvPr/>
        </p:nvSpPr>
        <p:spPr>
          <a:xfrm>
            <a:off x="3108960" y="2011680"/>
            <a:ext cx="2834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Main statutory ledger</a:t>
            </a:r>
          </a:p>
        </p:txBody>
      </p:sp>
      <p:sp>
        <p:nvSpPr>
          <p:cNvPr id="16" name="cell_1_2"/>
          <p:cNvSpPr/>
          <p:nvPr/>
        </p:nvSpPr>
        <p:spPr>
          <a:xfrm>
            <a:off x="5943600" y="2011680"/>
            <a:ext cx="2834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Alternate GAAP (IFRS)</a:t>
            </a:r>
          </a:p>
        </p:txBody>
      </p:sp>
      <p:sp>
        <p:nvSpPr>
          <p:cNvPr id="17" name="cell_1_3"/>
          <p:cNvSpPr/>
          <p:nvPr/>
        </p:nvSpPr>
        <p:spPr>
          <a:xfrm>
            <a:off x="8778240" y="2011680"/>
            <a:ext cx="2834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Same ledger, diff currency</a:t>
            </a:r>
          </a:p>
        </p:txBody>
      </p:sp>
      <p:sp>
        <p:nvSpPr>
          <p:cNvPr id="18" name="cell_2_0"/>
          <p:cNvSpPr/>
          <p:nvPr/>
        </p:nvSpPr>
        <p:spPr>
          <a:xfrm>
            <a:off x="274320" y="2651760"/>
            <a:ext cx="28346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1B2A4A"/>
                </a:solidFill>
                <a:latin typeface="Segoe UI"/>
              </a:rPr>
              <a:t>COA</a:t>
            </a:r>
          </a:p>
        </p:txBody>
      </p:sp>
      <p:sp>
        <p:nvSpPr>
          <p:cNvPr id="19" name="cell_2_1"/>
          <p:cNvSpPr/>
          <p:nvPr/>
        </p:nvSpPr>
        <p:spPr>
          <a:xfrm>
            <a:off x="3108960" y="2651760"/>
            <a:ext cx="28346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Own COA</a:t>
            </a:r>
          </a:p>
        </p:txBody>
      </p:sp>
      <p:sp>
        <p:nvSpPr>
          <p:cNvPr id="20" name="cell_2_2"/>
          <p:cNvSpPr/>
          <p:nvPr/>
        </p:nvSpPr>
        <p:spPr>
          <a:xfrm>
            <a:off x="5943600" y="2651760"/>
            <a:ext cx="28346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Can differ from primary</a:t>
            </a:r>
          </a:p>
        </p:txBody>
      </p:sp>
      <p:sp>
        <p:nvSpPr>
          <p:cNvPr id="21" name="cell_2_3"/>
          <p:cNvSpPr/>
          <p:nvPr/>
        </p:nvSpPr>
        <p:spPr>
          <a:xfrm>
            <a:off x="8778240" y="2651760"/>
            <a:ext cx="28346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Same as Primary</a:t>
            </a:r>
          </a:p>
        </p:txBody>
      </p:sp>
      <p:sp>
        <p:nvSpPr>
          <p:cNvPr id="22" name="cell_3_0"/>
          <p:cNvSpPr/>
          <p:nvPr/>
        </p:nvSpPr>
        <p:spPr>
          <a:xfrm>
            <a:off x="274320" y="3291840"/>
            <a:ext cx="2834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1B2A4A"/>
                </a:solidFill>
                <a:latin typeface="Segoe UI"/>
              </a:rPr>
              <a:t>Calendar</a:t>
            </a:r>
          </a:p>
        </p:txBody>
      </p:sp>
      <p:sp>
        <p:nvSpPr>
          <p:cNvPr id="23" name="cell_3_1"/>
          <p:cNvSpPr/>
          <p:nvPr/>
        </p:nvSpPr>
        <p:spPr>
          <a:xfrm>
            <a:off x="3108960" y="3291840"/>
            <a:ext cx="2834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Own Calendar</a:t>
            </a:r>
          </a:p>
        </p:txBody>
      </p:sp>
      <p:sp>
        <p:nvSpPr>
          <p:cNvPr id="24" name="cell_3_2"/>
          <p:cNvSpPr/>
          <p:nvPr/>
        </p:nvSpPr>
        <p:spPr>
          <a:xfrm>
            <a:off x="5943600" y="3291840"/>
            <a:ext cx="2834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Can differ</a:t>
            </a:r>
          </a:p>
        </p:txBody>
      </p:sp>
      <p:sp>
        <p:nvSpPr>
          <p:cNvPr id="25" name="cell_3_3"/>
          <p:cNvSpPr/>
          <p:nvPr/>
        </p:nvSpPr>
        <p:spPr>
          <a:xfrm>
            <a:off x="8778240" y="3291840"/>
            <a:ext cx="2834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Same as Primary</a:t>
            </a:r>
          </a:p>
        </p:txBody>
      </p:sp>
      <p:sp>
        <p:nvSpPr>
          <p:cNvPr id="26" name="cell_4_0"/>
          <p:cNvSpPr/>
          <p:nvPr/>
        </p:nvSpPr>
        <p:spPr>
          <a:xfrm>
            <a:off x="274320" y="3931920"/>
            <a:ext cx="28346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1B2A4A"/>
                </a:solidFill>
                <a:latin typeface="Segoe UI"/>
              </a:rPr>
              <a:t>Currency</a:t>
            </a:r>
          </a:p>
        </p:txBody>
      </p:sp>
      <p:sp>
        <p:nvSpPr>
          <p:cNvPr id="27" name="cell_4_1"/>
          <p:cNvSpPr/>
          <p:nvPr/>
        </p:nvSpPr>
        <p:spPr>
          <a:xfrm>
            <a:off x="3108960" y="3931920"/>
            <a:ext cx="28346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Local (e.g., INR)</a:t>
            </a:r>
          </a:p>
        </p:txBody>
      </p:sp>
      <p:sp>
        <p:nvSpPr>
          <p:cNvPr id="28" name="cell_4_2"/>
          <p:cNvSpPr/>
          <p:nvPr/>
        </p:nvSpPr>
        <p:spPr>
          <a:xfrm>
            <a:off x="5943600" y="3931920"/>
            <a:ext cx="28346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Can differ</a:t>
            </a:r>
          </a:p>
        </p:txBody>
      </p:sp>
      <p:sp>
        <p:nvSpPr>
          <p:cNvPr id="29" name="cell_4_3"/>
          <p:cNvSpPr/>
          <p:nvPr/>
        </p:nvSpPr>
        <p:spPr>
          <a:xfrm>
            <a:off x="8778240" y="3931920"/>
            <a:ext cx="28346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Group (e.g., USD)</a:t>
            </a:r>
          </a:p>
        </p:txBody>
      </p:sp>
      <p:sp>
        <p:nvSpPr>
          <p:cNvPr id="30" name="cell_5_0"/>
          <p:cNvSpPr/>
          <p:nvPr/>
        </p:nvSpPr>
        <p:spPr>
          <a:xfrm>
            <a:off x="274320" y="4572000"/>
            <a:ext cx="2834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1B2A4A"/>
                </a:solidFill>
                <a:latin typeface="Segoe UI"/>
              </a:rPr>
              <a:t>Mandatory?</a:t>
            </a:r>
          </a:p>
        </p:txBody>
      </p:sp>
      <p:sp>
        <p:nvSpPr>
          <p:cNvPr id="31" name="cell_5_1"/>
          <p:cNvSpPr/>
          <p:nvPr/>
        </p:nvSpPr>
        <p:spPr>
          <a:xfrm>
            <a:off x="3108960" y="4572000"/>
            <a:ext cx="2834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YES - Required</a:t>
            </a:r>
          </a:p>
        </p:txBody>
      </p:sp>
      <p:sp>
        <p:nvSpPr>
          <p:cNvPr id="32" name="cell_5_2"/>
          <p:cNvSpPr/>
          <p:nvPr/>
        </p:nvSpPr>
        <p:spPr>
          <a:xfrm>
            <a:off x="5943600" y="4572000"/>
            <a:ext cx="2834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NO - Optional</a:t>
            </a:r>
          </a:p>
        </p:txBody>
      </p:sp>
      <p:sp>
        <p:nvSpPr>
          <p:cNvPr id="33" name="cell_5_3"/>
          <p:cNvSpPr/>
          <p:nvPr/>
        </p:nvSpPr>
        <p:spPr>
          <a:xfrm>
            <a:off x="8778240" y="4572000"/>
            <a:ext cx="28346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NO - Optional</a:t>
            </a:r>
          </a:p>
        </p:txBody>
      </p:sp>
      <p:sp>
        <p:nvSpPr>
          <p:cNvPr id="34" name="cell_6_0"/>
          <p:cNvSpPr/>
          <p:nvPr/>
        </p:nvSpPr>
        <p:spPr>
          <a:xfrm>
            <a:off x="274320" y="5212080"/>
            <a:ext cx="28346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1B2A4A"/>
                </a:solidFill>
                <a:latin typeface="Segoe UI"/>
              </a:rPr>
              <a:t>Use Case</a:t>
            </a:r>
          </a:p>
        </p:txBody>
      </p:sp>
      <p:sp>
        <p:nvSpPr>
          <p:cNvPr id="35" name="cell_6_1"/>
          <p:cNvSpPr/>
          <p:nvPr/>
        </p:nvSpPr>
        <p:spPr>
          <a:xfrm>
            <a:off x="3108960" y="5212080"/>
            <a:ext cx="28346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Statutory reporting</a:t>
            </a:r>
          </a:p>
        </p:txBody>
      </p:sp>
      <p:sp>
        <p:nvSpPr>
          <p:cNvPr id="36" name="cell_6_2"/>
          <p:cNvSpPr/>
          <p:nvPr/>
        </p:nvSpPr>
        <p:spPr>
          <a:xfrm>
            <a:off x="5943600" y="5212080"/>
            <a:ext cx="28346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Dual GAAP compliance</a:t>
            </a:r>
          </a:p>
        </p:txBody>
      </p:sp>
      <p:sp>
        <p:nvSpPr>
          <p:cNvPr id="37" name="cell_6_3"/>
          <p:cNvSpPr/>
          <p:nvPr/>
        </p:nvSpPr>
        <p:spPr>
          <a:xfrm>
            <a:off x="8778240" y="5212080"/>
            <a:ext cx="28346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Group consolidation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Segoe UI"/>
              </a:rPr>
              <a:t>Where Primary Ledger Fits in Enterprise Structure</a:t>
            </a:r>
          </a:p>
        </p:txBody>
      </p:sp>
      <p:sp>
        <p:nvSpPr>
          <p:cNvPr id="4" name="ent"/>
          <p:cNvSpPr/>
          <p:nvPr/>
        </p:nvSpPr>
        <p:spPr>
          <a:xfrm>
            <a:off x="4114800" y="1371600"/>
            <a:ext cx="393192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Segoe UI"/>
              </a:rPr>
              <a:t>ENTERPRISE (ABC Group)</a:t>
            </a:r>
          </a:p>
        </p:txBody>
      </p:sp>
      <p:sp>
        <p:nvSpPr>
          <p:cNvPr id="5" name="le1"/>
          <p:cNvSpPr/>
          <p:nvPr/>
        </p:nvSpPr>
        <p:spPr>
          <a:xfrm>
            <a:off x="1371600" y="2560320"/>
            <a:ext cx="3657600" cy="6400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Segoe UI"/>
              </a:rPr>
              <a:t>Legal Entity: ABC Inc. (US)</a:t>
            </a:r>
          </a:p>
        </p:txBody>
      </p:sp>
      <p:sp>
        <p:nvSpPr>
          <p:cNvPr id="6" name="le2"/>
          <p:cNvSpPr/>
          <p:nvPr/>
        </p:nvSpPr>
        <p:spPr>
          <a:xfrm>
            <a:off x="6858000" y="2560320"/>
            <a:ext cx="3657600" cy="6400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Segoe UI"/>
              </a:rPr>
              <a:t>Legal Entity: ABC Ltd. (UK)</a:t>
            </a:r>
          </a:p>
        </p:txBody>
      </p:sp>
      <p:sp>
        <p:nvSpPr>
          <p:cNvPr id="7" name="pl1"/>
          <p:cNvSpPr/>
          <p:nvPr/>
        </p:nvSpPr>
        <p:spPr>
          <a:xfrm>
            <a:off x="1371600" y="3657600"/>
            <a:ext cx="3657600" cy="10972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Segoe UI"/>
              </a:rPr>
              <a:t>PRIMARY LEDGER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Segoe UI"/>
              </a:rPr>
              <a:t>US Ledger | COA: Corp | USD</a:t>
            </a:r>
          </a:p>
        </p:txBody>
      </p:sp>
      <p:sp>
        <p:nvSpPr>
          <p:cNvPr id="8" name="pl2"/>
          <p:cNvSpPr/>
          <p:nvPr/>
        </p:nvSpPr>
        <p:spPr>
          <a:xfrm>
            <a:off x="6858000" y="3657600"/>
            <a:ext cx="3657600" cy="10972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Segoe UI"/>
              </a:rPr>
              <a:t>PRIMARY LEDGER</a:t>
            </a:r>
          </a:p>
          <a:p>
            <a:pPr algn="ctr"/>
            <a:r>
              <a:rPr lang="en-US" sz="1300" b="1" dirty="0">
                <a:solidFill>
                  <a:srgbClr val="FFFFFF"/>
                </a:solidFill>
                <a:latin typeface="Segoe UI"/>
              </a:rPr>
              <a:t>UK Ledger | COA: Corp | GBP</a:t>
            </a:r>
          </a:p>
        </p:txBody>
      </p:sp>
      <p:sp>
        <p:nvSpPr>
          <p:cNvPr id="9" name="bu1"/>
          <p:cNvSpPr/>
          <p:nvPr/>
        </p:nvSpPr>
        <p:spPr>
          <a:xfrm>
            <a:off x="1371600" y="5303520"/>
            <a:ext cx="1645920" cy="54864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Segoe UI"/>
              </a:rPr>
              <a:t>BU: US AP</a:t>
            </a:r>
          </a:p>
        </p:txBody>
      </p:sp>
      <p:sp>
        <p:nvSpPr>
          <p:cNvPr id="10" name="bu2"/>
          <p:cNvSpPr/>
          <p:nvPr/>
        </p:nvSpPr>
        <p:spPr>
          <a:xfrm>
            <a:off x="3383280" y="5303520"/>
            <a:ext cx="1645920" cy="54864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Segoe UI"/>
              </a:rPr>
              <a:t>BU: US AR</a:t>
            </a:r>
          </a:p>
        </p:txBody>
      </p:sp>
      <p:sp>
        <p:nvSpPr>
          <p:cNvPr id="11" name="bu3"/>
          <p:cNvSpPr/>
          <p:nvPr/>
        </p:nvSpPr>
        <p:spPr>
          <a:xfrm>
            <a:off x="6858000" y="5303520"/>
            <a:ext cx="1645920" cy="54864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Segoe UI"/>
              </a:rPr>
              <a:t>BU: UK AP</a:t>
            </a:r>
          </a:p>
        </p:txBody>
      </p:sp>
      <p:sp>
        <p:nvSpPr>
          <p:cNvPr id="12" name="bu4"/>
          <p:cNvSpPr/>
          <p:nvPr/>
        </p:nvSpPr>
        <p:spPr>
          <a:xfrm>
            <a:off x="8869680" y="5303520"/>
            <a:ext cx="1645920" cy="54864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Segoe UI"/>
              </a:rPr>
              <a:t>BU: UK AR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Segoe UI"/>
              </a:rPr>
              <a:t>Steps to Create a Primary Ledger</a:t>
            </a:r>
          </a:p>
        </p:txBody>
      </p:sp>
      <p:sp>
        <p:nvSpPr>
          <p:cNvPr id="4" name="nav"/>
          <p:cNvSpPr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400" dirty="0">
                <a:solidFill>
                  <a:srgbClr val="2C5F8A"/>
                </a:solidFill>
                <a:latin typeface="Segoe UI"/>
              </a:rPr>
              <a:t>Navigation: Setup and Maintenance &gt; "Manage Primary Ledgers" &gt; Create</a:t>
            </a:r>
          </a:p>
        </p:txBody>
      </p:sp>
      <p:sp>
        <p:nvSpPr>
          <p:cNvPr id="5" name="steps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Step 1: Enter Ledger Name and Description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Step 2: Select Chart of Accounts (must be deployed first)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Step 3: Select Accounting Calendar (must have periods defined)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Step 4: Select Functional Currency (e.g., USD, INR, GBP)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Step 5: Select Accounting Convention (Accrual / Cash)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Step 6: Assign Subledger Accounting Method (Standard Accrual)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Step 7: Configure Ledger Options (Retained Earnings, Suspense)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Step 8: Save and Complete Accounting Configuration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3000" b="1" dirty="0">
                <a:solidFill>
                  <a:srgbClr val="FFFFFF"/>
                </a:solidFill>
                <a:latin typeface="Segoe UI"/>
              </a:rPr>
              <a:t>Create Primary Ledger - Screen Fields</a:t>
            </a:r>
          </a:p>
        </p:txBody>
      </p:sp>
      <p:sp>
        <p:nvSpPr>
          <p:cNvPr id="4" name="form_bg"/>
          <p:cNvSpPr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0" name="lbl0"/>
          <p:cNvSpPr/>
          <p:nvPr/>
        </p:nvSpPr>
        <p:spPr>
          <a:xfrm>
            <a:off x="1097280" y="1554480"/>
            <a:ext cx="320040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r"/>
            <a:r>
              <a:rPr lang="en-US" sz="1300" b="1" dirty="0">
                <a:solidFill>
                  <a:srgbClr val="1B2A4A"/>
                </a:solidFill>
                <a:latin typeface="Segoe UI"/>
              </a:rPr>
              <a:t>* Name:</a:t>
            </a:r>
          </a:p>
        </p:txBody>
      </p:sp>
      <p:sp>
        <p:nvSpPr>
          <p:cNvPr id="11" name="val0"/>
          <p:cNvSpPr/>
          <p:nvPr/>
        </p:nvSpPr>
        <p:spPr>
          <a:xfrm>
            <a:off x="4572000" y="1600200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Segoe UI"/>
              </a:rPr>
              <a:t>ABC US Primary Ledger</a:t>
            </a:r>
          </a:p>
        </p:txBody>
      </p:sp>
      <p:sp>
        <p:nvSpPr>
          <p:cNvPr id="12" name="lbl1"/>
          <p:cNvSpPr/>
          <p:nvPr/>
        </p:nvSpPr>
        <p:spPr>
          <a:xfrm>
            <a:off x="1097280" y="2194560"/>
            <a:ext cx="320040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r"/>
            <a:r>
              <a:rPr lang="en-US" sz="1300" b="1" dirty="0">
                <a:solidFill>
                  <a:srgbClr val="1B2A4A"/>
                </a:solidFill>
                <a:latin typeface="Segoe UI"/>
              </a:rPr>
              <a:t>  Description:</a:t>
            </a:r>
          </a:p>
        </p:txBody>
      </p:sp>
      <p:sp>
        <p:nvSpPr>
          <p:cNvPr id="13" name="val1"/>
          <p:cNvSpPr/>
          <p:nvPr/>
        </p:nvSpPr>
        <p:spPr>
          <a:xfrm>
            <a:off x="4572000" y="2240280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Segoe UI"/>
              </a:rPr>
              <a:t>Primary ledger for US operations</a:t>
            </a:r>
          </a:p>
        </p:txBody>
      </p:sp>
      <p:sp>
        <p:nvSpPr>
          <p:cNvPr id="14" name="lbl2"/>
          <p:cNvSpPr/>
          <p:nvPr/>
        </p:nvSpPr>
        <p:spPr>
          <a:xfrm>
            <a:off x="1097280" y="2834639"/>
            <a:ext cx="320040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r"/>
            <a:r>
              <a:rPr lang="en-US" sz="1300" b="1" dirty="0">
                <a:solidFill>
                  <a:srgbClr val="1B2A4A"/>
                </a:solidFill>
                <a:latin typeface="Segoe UI"/>
              </a:rPr>
              <a:t>* Chart of Accounts:</a:t>
            </a:r>
          </a:p>
        </p:txBody>
      </p:sp>
      <p:sp>
        <p:nvSpPr>
          <p:cNvPr id="15" name="val2"/>
          <p:cNvSpPr/>
          <p:nvPr/>
        </p:nvSpPr>
        <p:spPr>
          <a:xfrm>
            <a:off x="4572000" y="2880359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Segoe UI"/>
              </a:rPr>
              <a:t>Corporate COA</a:t>
            </a:r>
          </a:p>
        </p:txBody>
      </p:sp>
      <p:sp>
        <p:nvSpPr>
          <p:cNvPr id="16" name="lbl3"/>
          <p:cNvSpPr/>
          <p:nvPr/>
        </p:nvSpPr>
        <p:spPr>
          <a:xfrm>
            <a:off x="1097280" y="3474720"/>
            <a:ext cx="320040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r"/>
            <a:r>
              <a:rPr lang="en-US" sz="1300" b="1" dirty="0">
                <a:solidFill>
                  <a:srgbClr val="1B2A4A"/>
                </a:solidFill>
                <a:latin typeface="Segoe UI"/>
              </a:rPr>
              <a:t>* Accounting Calendar:</a:t>
            </a:r>
          </a:p>
        </p:txBody>
      </p:sp>
      <p:sp>
        <p:nvSpPr>
          <p:cNvPr id="17" name="val3"/>
          <p:cNvSpPr/>
          <p:nvPr/>
        </p:nvSpPr>
        <p:spPr>
          <a:xfrm>
            <a:off x="4572000" y="3520440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Segoe UI"/>
              </a:rPr>
              <a:t>Monthly Calendar FY2026</a:t>
            </a:r>
          </a:p>
        </p:txBody>
      </p:sp>
      <p:sp>
        <p:nvSpPr>
          <p:cNvPr id="18" name="lbl4"/>
          <p:cNvSpPr/>
          <p:nvPr/>
        </p:nvSpPr>
        <p:spPr>
          <a:xfrm>
            <a:off x="1097280" y="4114800"/>
            <a:ext cx="320040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r"/>
            <a:r>
              <a:rPr lang="en-US" sz="1300" b="1" dirty="0">
                <a:solidFill>
                  <a:srgbClr val="1B2A4A"/>
                </a:solidFill>
                <a:latin typeface="Segoe UI"/>
              </a:rPr>
              <a:t>* Currency:</a:t>
            </a:r>
          </a:p>
        </p:txBody>
      </p:sp>
      <p:sp>
        <p:nvSpPr>
          <p:cNvPr id="19" name="val4"/>
          <p:cNvSpPr/>
          <p:nvPr/>
        </p:nvSpPr>
        <p:spPr>
          <a:xfrm>
            <a:off x="4572000" y="4160520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Segoe UI"/>
              </a:rPr>
              <a:t>USD - US Dollar</a:t>
            </a:r>
          </a:p>
        </p:txBody>
      </p:sp>
      <p:sp>
        <p:nvSpPr>
          <p:cNvPr id="20" name="lbl5"/>
          <p:cNvSpPr/>
          <p:nvPr/>
        </p:nvSpPr>
        <p:spPr>
          <a:xfrm>
            <a:off x="1097280" y="4754880"/>
            <a:ext cx="320040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r"/>
            <a:r>
              <a:rPr lang="en-US" sz="1300" b="1" dirty="0">
                <a:solidFill>
                  <a:srgbClr val="1B2A4A"/>
                </a:solidFill>
                <a:latin typeface="Segoe UI"/>
              </a:rPr>
              <a:t>* Accounting Convention:</a:t>
            </a:r>
          </a:p>
        </p:txBody>
      </p:sp>
      <p:sp>
        <p:nvSpPr>
          <p:cNvPr id="21" name="val5"/>
          <p:cNvSpPr/>
          <p:nvPr/>
        </p:nvSpPr>
        <p:spPr>
          <a:xfrm>
            <a:off x="4572000" y="4800600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Segoe UI"/>
              </a:rPr>
              <a:t>Accrual</a:t>
            </a:r>
          </a:p>
        </p:txBody>
      </p:sp>
      <p:sp>
        <p:nvSpPr>
          <p:cNvPr id="22" name="lbl6"/>
          <p:cNvSpPr/>
          <p:nvPr/>
        </p:nvSpPr>
        <p:spPr>
          <a:xfrm>
            <a:off x="1097280" y="5394959"/>
            <a:ext cx="320040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r"/>
            <a:r>
              <a:rPr lang="en-US" sz="1300" b="1" dirty="0">
                <a:solidFill>
                  <a:srgbClr val="1B2A4A"/>
                </a:solidFill>
                <a:latin typeface="Segoe UI"/>
              </a:rPr>
              <a:t>  Subledger Acctg Method:</a:t>
            </a:r>
          </a:p>
        </p:txBody>
      </p:sp>
      <p:sp>
        <p:nvSpPr>
          <p:cNvPr id="23" name="val6"/>
          <p:cNvSpPr/>
          <p:nvPr/>
        </p:nvSpPr>
        <p:spPr>
          <a:xfrm>
            <a:off x="4572000" y="5440679"/>
            <a:ext cx="5303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dirty="0">
                <a:solidFill>
                  <a:srgbClr val="333333"/>
                </a:solidFill>
                <a:latin typeface="Segoe UI"/>
              </a:rPr>
              <a:t>Standard Accrual (Seeded)</a:t>
            </a:r>
          </a:p>
        </p:txBody>
      </p:sp>
      <p:sp>
        <p:nvSpPr>
          <p:cNvPr id="30" name="note"/>
          <p:cNvSpPr/>
          <p:nvPr/>
        </p:nvSpPr>
        <p:spPr>
          <a:xfrm>
            <a:off x="1371600" y="6126480"/>
            <a:ext cx="9144000" cy="365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dirty="0">
                <a:solidFill>
                  <a:srgbClr val="E74C3C"/>
                </a:solidFill>
                <a:latin typeface="Segoe UI"/>
              </a:rPr>
              <a:t>* = Mandatory fields | All prerequisites must be completed first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Segoe UI"/>
              </a:rPr>
              <a:t>Ledger Options - Mandatory Configurations</a:t>
            </a:r>
          </a:p>
        </p:txBody>
      </p:sp>
      <p:sp>
        <p:nvSpPr>
          <p:cNvPr id="10" name="opt_0_0"/>
          <p:cNvSpPr/>
          <p:nvPr/>
        </p:nvSpPr>
        <p:spPr>
          <a:xfrm>
            <a:off x="457200" y="1371600"/>
            <a:ext cx="2926080" cy="59436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</a:rPr>
              <a:t>Option</a:t>
            </a:r>
          </a:p>
        </p:txBody>
      </p:sp>
      <p:sp>
        <p:nvSpPr>
          <p:cNvPr id="11" name="opt_0_1"/>
          <p:cNvSpPr/>
          <p:nvPr/>
        </p:nvSpPr>
        <p:spPr>
          <a:xfrm>
            <a:off x="3383280" y="1371600"/>
            <a:ext cx="3657600" cy="59436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</a:rPr>
              <a:t>Account / Value</a:t>
            </a:r>
          </a:p>
        </p:txBody>
      </p:sp>
      <p:sp>
        <p:nvSpPr>
          <p:cNvPr id="12" name="opt_0_2"/>
          <p:cNvSpPr/>
          <p:nvPr/>
        </p:nvSpPr>
        <p:spPr>
          <a:xfrm>
            <a:off x="7040880" y="1371600"/>
            <a:ext cx="4114800" cy="59436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Segoe UI"/>
              </a:rPr>
              <a:t>Purpose</a:t>
            </a:r>
          </a:p>
        </p:txBody>
      </p:sp>
      <p:sp>
        <p:nvSpPr>
          <p:cNvPr id="13" name="opt_1_0"/>
          <p:cNvSpPr/>
          <p:nvPr/>
        </p:nvSpPr>
        <p:spPr>
          <a:xfrm>
            <a:off x="457200" y="2011680"/>
            <a:ext cx="2926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Retained Earnings</a:t>
            </a:r>
          </a:p>
        </p:txBody>
      </p:sp>
      <p:sp>
        <p:nvSpPr>
          <p:cNvPr id="14" name="opt_1_1"/>
          <p:cNvSpPr/>
          <p:nvPr/>
        </p:nvSpPr>
        <p:spPr>
          <a:xfrm>
            <a:off x="3383280" y="201168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01-000-31000-000-00</a:t>
            </a:r>
          </a:p>
        </p:txBody>
      </p:sp>
      <p:sp>
        <p:nvSpPr>
          <p:cNvPr id="15" name="opt_1_2"/>
          <p:cNvSpPr/>
          <p:nvPr/>
        </p:nvSpPr>
        <p:spPr>
          <a:xfrm>
            <a:off x="7040880" y="2011680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Year-end P&amp;L close account</a:t>
            </a:r>
          </a:p>
        </p:txBody>
      </p:sp>
      <p:sp>
        <p:nvSpPr>
          <p:cNvPr id="16" name="opt_2_0"/>
          <p:cNvSpPr/>
          <p:nvPr/>
        </p:nvSpPr>
        <p:spPr>
          <a:xfrm>
            <a:off x="457200" y="2651760"/>
            <a:ext cx="292608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Suspense Account</a:t>
            </a:r>
          </a:p>
        </p:txBody>
      </p:sp>
      <p:sp>
        <p:nvSpPr>
          <p:cNvPr id="17" name="opt_2_1"/>
          <p:cNvSpPr/>
          <p:nvPr/>
        </p:nvSpPr>
        <p:spPr>
          <a:xfrm>
            <a:off x="3383280" y="2651760"/>
            <a:ext cx="365760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01-000-99000-000-00</a:t>
            </a:r>
          </a:p>
        </p:txBody>
      </p:sp>
      <p:sp>
        <p:nvSpPr>
          <p:cNvPr id="18" name="opt_2_2"/>
          <p:cNvSpPr/>
          <p:nvPr/>
        </p:nvSpPr>
        <p:spPr>
          <a:xfrm>
            <a:off x="7040880" y="2651760"/>
            <a:ext cx="411480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Catches unbalanced entries</a:t>
            </a:r>
          </a:p>
        </p:txBody>
      </p:sp>
      <p:sp>
        <p:nvSpPr>
          <p:cNvPr id="19" name="opt_3_0"/>
          <p:cNvSpPr/>
          <p:nvPr/>
        </p:nvSpPr>
        <p:spPr>
          <a:xfrm>
            <a:off x="457200" y="3291840"/>
            <a:ext cx="2926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Rounding Account</a:t>
            </a:r>
          </a:p>
        </p:txBody>
      </p:sp>
      <p:sp>
        <p:nvSpPr>
          <p:cNvPr id="20" name="opt_3_1"/>
          <p:cNvSpPr/>
          <p:nvPr/>
        </p:nvSpPr>
        <p:spPr>
          <a:xfrm>
            <a:off x="3383280" y="329184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01-000-99100-000-00</a:t>
            </a:r>
          </a:p>
        </p:txBody>
      </p:sp>
      <p:sp>
        <p:nvSpPr>
          <p:cNvPr id="21" name="opt_3_2"/>
          <p:cNvSpPr/>
          <p:nvPr/>
        </p:nvSpPr>
        <p:spPr>
          <a:xfrm>
            <a:off x="7040880" y="3291840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Currency rounding diffs</a:t>
            </a:r>
          </a:p>
        </p:txBody>
      </p:sp>
      <p:sp>
        <p:nvSpPr>
          <p:cNvPr id="22" name="opt_4_0"/>
          <p:cNvSpPr/>
          <p:nvPr/>
        </p:nvSpPr>
        <p:spPr>
          <a:xfrm>
            <a:off x="457200" y="3931920"/>
            <a:ext cx="292608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Enable Suspense</a:t>
            </a:r>
          </a:p>
        </p:txBody>
      </p:sp>
      <p:sp>
        <p:nvSpPr>
          <p:cNvPr id="23" name="opt_4_1"/>
          <p:cNvSpPr/>
          <p:nvPr/>
        </p:nvSpPr>
        <p:spPr>
          <a:xfrm>
            <a:off x="3383280" y="3931920"/>
            <a:ext cx="365760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Yes / No</a:t>
            </a:r>
          </a:p>
        </p:txBody>
      </p:sp>
      <p:sp>
        <p:nvSpPr>
          <p:cNvPr id="24" name="opt_4_2"/>
          <p:cNvSpPr/>
          <p:nvPr/>
        </p:nvSpPr>
        <p:spPr>
          <a:xfrm>
            <a:off x="7040880" y="3931920"/>
            <a:ext cx="411480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Allow unbalanced journals?</a:t>
            </a:r>
          </a:p>
        </p:txBody>
      </p:sp>
      <p:sp>
        <p:nvSpPr>
          <p:cNvPr id="25" name="opt_5_0"/>
          <p:cNvSpPr/>
          <p:nvPr/>
        </p:nvSpPr>
        <p:spPr>
          <a:xfrm>
            <a:off x="457200" y="4572000"/>
            <a:ext cx="29260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Journal Approval</a:t>
            </a:r>
          </a:p>
        </p:txBody>
      </p:sp>
      <p:sp>
        <p:nvSpPr>
          <p:cNvPr id="26" name="opt_5_1"/>
          <p:cNvSpPr/>
          <p:nvPr/>
        </p:nvSpPr>
        <p:spPr>
          <a:xfrm>
            <a:off x="3383280" y="457200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Yes (Recommended)</a:t>
            </a:r>
          </a:p>
        </p:txBody>
      </p:sp>
      <p:sp>
        <p:nvSpPr>
          <p:cNvPr id="27" name="opt_5_2"/>
          <p:cNvSpPr/>
          <p:nvPr/>
        </p:nvSpPr>
        <p:spPr>
          <a:xfrm>
            <a:off x="7040880" y="4572000"/>
            <a:ext cx="41148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Approval before posting</a:t>
            </a:r>
          </a:p>
        </p:txBody>
      </p:sp>
      <p:sp>
        <p:nvSpPr>
          <p:cNvPr id="28" name="opt_6_0"/>
          <p:cNvSpPr/>
          <p:nvPr/>
        </p:nvSpPr>
        <p:spPr>
          <a:xfrm>
            <a:off x="457200" y="5212080"/>
            <a:ext cx="292608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Reversals</a:t>
            </a:r>
          </a:p>
        </p:txBody>
      </p:sp>
      <p:sp>
        <p:nvSpPr>
          <p:cNvPr id="29" name="opt_6_1"/>
          <p:cNvSpPr/>
          <p:nvPr/>
        </p:nvSpPr>
        <p:spPr>
          <a:xfrm>
            <a:off x="3383280" y="5212080"/>
            <a:ext cx="365760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Yes</a:t>
            </a:r>
          </a:p>
        </p:txBody>
      </p:sp>
      <p:sp>
        <p:nvSpPr>
          <p:cNvPr id="30" name="opt_6_2"/>
          <p:cNvSpPr/>
          <p:nvPr/>
        </p:nvSpPr>
        <p:spPr>
          <a:xfrm>
            <a:off x="7040880" y="5212080"/>
            <a:ext cx="411480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200" dirty="0">
                <a:solidFill>
                  <a:srgbClr val="333333"/>
                </a:solidFill>
                <a:latin typeface="Segoe UI"/>
              </a:rPr>
              <a:t>Allow journal reversals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Segoe UI"/>
              </a:rPr>
              <a:t>Accounting Configuration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Oracle auto-generates an Accounting Configuration when you create a Primary Ledger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It links: Primary Ledger + Secondary Ledgers + Reporting Currencies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Status MUST be COMPLETED before you can open periods or post journals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Navigation: Setup and Maintenance &gt; Manage Accounting Configurations &gt; Complete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Validates: COA deployed, Calendar has periods, Currency enabled, Retained Earnings set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If Secondary Ledger or Reporting Currency needed, add them BEFORE completing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Once completed, structural changes (COA, Calendar) cannot be modified</a:t>
            </a:r>
          </a:p>
        </p:txBody>
      </p:sp>
      <p:sp>
        <p:nvSpPr>
          <p:cNvPr id="5" name="status"/>
          <p:cNvSpPr/>
          <p:nvPr/>
        </p:nvSpPr>
        <p:spPr>
          <a:xfrm>
            <a:off x="2743200" y="5669280"/>
            <a:ext cx="64008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Segoe UI"/>
              </a:rPr>
              <a:t>Status: COMPLETED (Required before transacting)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Segoe UI"/>
              </a:rPr>
              <a:t>Prerequisites Before Creating Primary Ledger</a:t>
            </a:r>
          </a:p>
        </p:txBody>
      </p:sp>
      <p:sp>
        <p:nvSpPr>
          <p:cNvPr id="4" name="prereqs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1. Chart of Accounts created and deployed (GL# Key Flexfield)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2. Value Sets created with values (Account Types assigned - Revenue/Expense/Asset/Liability/Equity)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3. Accounting Calendar created with period type and periods defined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4. Currency enabled in the system (USD, INR, GBP, EUR, etc.)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5. Retained Earnings account exists in value set (Account Type = Equity)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6. Segment Labels assigned (GL_BALANCING and GL_ACCOUNT are mandatory)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7. Legal Entity created (optional at this stage - can assign later)</a:t>
            </a:r>
          </a:p>
        </p:txBody>
      </p:sp>
      <p:sp>
        <p:nvSpPr>
          <p:cNvPr id="5" name="warn"/>
          <p:cNvSpPr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Segoe UI"/>
              </a:rPr>
              <a:t>IMPORTANT: Complete ALL prerequisites before attempting ledger creation!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Segoe UI"/>
              </a:rPr>
              <a:t>Subledger Accounting Method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Every Primary Ledger needs a Subledger Accounting Method (SLAM)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Defines HOW subledger transactions create GL journal entries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Subledgers: AP Invoices/Payments, AR Invoices/Receipts, FA Depreciation, Cash Mgmt, Expenses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Default: Standard Accrual (Oracle seeded - works for 90% of implementations)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Custom methods can be created for complex accounting requirements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Navigation: Setup and Maintenance &gt; Manage Subledger Accounting Methods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Assigned during Ledger creation or via Ledger Options</a:t>
            </a:r>
          </a:p>
          <a:p>
            <a:pPr algn="l" marL="457200" indent="-228600">
              <a:buChar char="•"/>
            </a:pPr>
            <a:r>
              <a:rPr lang="en-US" sz="1600" dirty="0">
                <a:solidFill>
                  <a:srgbClr val="333333"/>
                </a:solidFill>
                <a:latin typeface="Segoe UI"/>
              </a:rPr>
              <a:t>Contains: Journal Entry Rule Sets, Account Derivation Rules, Mapping Sets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Segoe UI"/>
              </a:rPr>
              <a:t>Real-World Examples</a:t>
            </a:r>
          </a:p>
        </p:txBody>
      </p:sp>
      <p:sp>
        <p:nvSpPr>
          <p:cNvPr id="4" name="ex1_bg"/>
          <p:cNvSpPr/>
          <p:nvPr/>
        </p:nvSpPr>
        <p:spPr>
          <a:xfrm>
            <a:off x="457200" y="1371600"/>
            <a:ext cx="3474720" cy="3200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5" name="ex1_title"/>
          <p:cNvSpPr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Segoe UI"/>
              </a:rPr>
              <a:t>Single-Country (US)</a:t>
            </a:r>
          </a:p>
        </p:txBody>
      </p:sp>
      <p:sp>
        <p:nvSpPr>
          <p:cNvPr id="6" name="ex1"/>
          <p:cNvSpPr/>
          <p:nvPr/>
        </p:nvSpPr>
        <p:spPr>
          <a:xfrm>
            <a:off x="548640" y="2011680"/>
            <a:ext cx="3291840" cy="24688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Company: XYZ Corp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Ledger: XYZ US Primary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COA: XYZ COA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Calendar: Jan-Dec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Currency: USD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Convention: Accrual</a:t>
            </a:r>
          </a:p>
        </p:txBody>
      </p:sp>
      <p:sp>
        <p:nvSpPr>
          <p:cNvPr id="7" name="ex2_bg"/>
          <p:cNvSpPr/>
          <p:nvPr/>
        </p:nvSpPr>
        <p:spPr>
          <a:xfrm>
            <a:off x="4206240" y="1371600"/>
            <a:ext cx="3474720" cy="3200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8" name="ex2_title"/>
          <p:cNvSpPr/>
          <p:nvPr/>
        </p:nvSpPr>
        <p:spPr>
          <a:xfrm>
            <a:off x="4206240" y="1371600"/>
            <a:ext cx="3474720" cy="5486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Segoe UI"/>
              </a:rPr>
              <a:t>Multi-Country (India)</a:t>
            </a:r>
          </a:p>
        </p:txBody>
      </p:sp>
      <p:sp>
        <p:nvSpPr>
          <p:cNvPr id="9" name="ex2"/>
          <p:cNvSpPr/>
          <p:nvPr/>
        </p:nvSpPr>
        <p:spPr>
          <a:xfrm>
            <a:off x="4297680" y="2011680"/>
            <a:ext cx="3291840" cy="24688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Legal Entity: ABC India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Ledger: India Primary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COA: Corporate COA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Calendar: Apr-Mar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Currency: INR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+ Reporting: USD</a:t>
            </a:r>
          </a:p>
        </p:txBody>
      </p:sp>
      <p:sp>
        <p:nvSpPr>
          <p:cNvPr id="10" name="ex3_bg"/>
          <p:cNvSpPr/>
          <p:nvPr/>
        </p:nvSpPr>
        <p:spPr>
          <a:xfrm>
            <a:off x="7955279" y="1371600"/>
            <a:ext cx="3749039" cy="32004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11" name="ex3_title"/>
          <p:cNvSpPr/>
          <p:nvPr/>
        </p:nvSpPr>
        <p:spPr>
          <a:xfrm>
            <a:off x="7955279" y="1371600"/>
            <a:ext cx="3749039" cy="5486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Segoe UI"/>
              </a:rPr>
              <a:t>Dual-GAAP (Saudi)</a:t>
            </a:r>
          </a:p>
        </p:txBody>
      </p:sp>
      <p:sp>
        <p:nvSpPr>
          <p:cNvPr id="12" name="ex3"/>
          <p:cNvSpPr/>
          <p:nvPr/>
        </p:nvSpPr>
        <p:spPr>
          <a:xfrm>
            <a:off x="8046720" y="2011680"/>
            <a:ext cx="3566160" cy="24688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Primary: KSA Local GAAP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Currency: SAR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Secondary: KSA IFRS</a:t>
            </a:r>
          </a:p>
          <a:p>
            <a:pPr algn="l"/>
            <a:r>
              <a:rPr lang="en-US" sz="1200" dirty="0">
                <a:solidFill>
                  <a:srgbClr val="333333"/>
                </a:solidFill>
                <a:latin typeface="Segoe UI"/>
              </a:rPr>
              <a:t>Reporting: USD (Group)</a:t>
            </a:r>
          </a:p>
        </p:txBody>
      </p:sp>
      <p:sp>
        <p:nvSpPr>
          <p:cNvPr id="13" name="rule"/>
          <p:cNvSpPr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Segoe UI"/>
              </a:rPr>
              <a:t>Rule: Different currency or calendar = Separate Primary Ledger | Same COA = Easy consolidation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Segoe UI"/>
              </a:rPr>
              <a:t>Key Design Decisions</a:t>
            </a:r>
          </a:p>
        </p:txBody>
      </p:sp>
      <p:sp>
        <p:nvSpPr>
          <p:cNvPr id="10" name="d_0_0"/>
          <p:cNvSpPr/>
          <p:nvPr/>
        </p:nvSpPr>
        <p:spPr>
          <a:xfrm>
            <a:off x="457200" y="1371600"/>
            <a:ext cx="5486400" cy="59436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Segoe UI"/>
              </a:rPr>
              <a:t>Decision</a:t>
            </a:r>
          </a:p>
        </p:txBody>
      </p:sp>
      <p:sp>
        <p:nvSpPr>
          <p:cNvPr id="11" name="d_0_1"/>
          <p:cNvSpPr/>
          <p:nvPr/>
        </p:nvSpPr>
        <p:spPr>
          <a:xfrm>
            <a:off x="5943600" y="1371600"/>
            <a:ext cx="5486400" cy="59436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Segoe UI"/>
              </a:rPr>
              <a:t>Recommendation</a:t>
            </a:r>
          </a:p>
        </p:txBody>
      </p:sp>
      <p:sp>
        <p:nvSpPr>
          <p:cNvPr id="12" name="d_1_0"/>
          <p:cNvSpPr/>
          <p:nvPr/>
        </p:nvSpPr>
        <p:spPr>
          <a:xfrm>
            <a:off x="457200" y="2011680"/>
            <a:ext cx="5486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Segoe UI"/>
              </a:rPr>
              <a:t>One ledger per country or shared?</a:t>
            </a:r>
          </a:p>
        </p:txBody>
      </p:sp>
      <p:sp>
        <p:nvSpPr>
          <p:cNvPr id="13" name="d_1_1"/>
          <p:cNvSpPr/>
          <p:nvPr/>
        </p:nvSpPr>
        <p:spPr>
          <a:xfrm>
            <a:off x="5943600" y="2011680"/>
            <a:ext cx="5486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Separate - different currencies need separate ledgers</a:t>
            </a:r>
          </a:p>
        </p:txBody>
      </p:sp>
      <p:sp>
        <p:nvSpPr>
          <p:cNvPr id="14" name="d_2_0"/>
          <p:cNvSpPr/>
          <p:nvPr/>
        </p:nvSpPr>
        <p:spPr>
          <a:xfrm>
            <a:off x="457200" y="2651760"/>
            <a:ext cx="548640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Segoe UI"/>
              </a:rPr>
              <a:t>Share COA across ledgers?</a:t>
            </a:r>
          </a:p>
        </p:txBody>
      </p:sp>
      <p:sp>
        <p:nvSpPr>
          <p:cNvPr id="15" name="d_2_1"/>
          <p:cNvSpPr/>
          <p:nvPr/>
        </p:nvSpPr>
        <p:spPr>
          <a:xfrm>
            <a:off x="5943600" y="2651760"/>
            <a:ext cx="548640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Yes - enables easy consolidation</a:t>
            </a:r>
          </a:p>
        </p:txBody>
      </p:sp>
      <p:sp>
        <p:nvSpPr>
          <p:cNvPr id="16" name="d_3_0"/>
          <p:cNvSpPr/>
          <p:nvPr/>
        </p:nvSpPr>
        <p:spPr>
          <a:xfrm>
            <a:off x="457200" y="3291840"/>
            <a:ext cx="5486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Segoe UI"/>
              </a:rPr>
              <a:t>Accrual or Cash basis?</a:t>
            </a:r>
          </a:p>
        </p:txBody>
      </p:sp>
      <p:sp>
        <p:nvSpPr>
          <p:cNvPr id="17" name="d_3_1"/>
          <p:cNvSpPr/>
          <p:nvPr/>
        </p:nvSpPr>
        <p:spPr>
          <a:xfrm>
            <a:off x="5943600" y="3291840"/>
            <a:ext cx="5486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Accrual (99% of implementations)</a:t>
            </a:r>
          </a:p>
        </p:txBody>
      </p:sp>
      <p:sp>
        <p:nvSpPr>
          <p:cNvPr id="18" name="d_4_0"/>
          <p:cNvSpPr/>
          <p:nvPr/>
        </p:nvSpPr>
        <p:spPr>
          <a:xfrm>
            <a:off x="457200" y="3931920"/>
            <a:ext cx="548640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Segoe UI"/>
              </a:rPr>
              <a:t>Enable Suspense?</a:t>
            </a:r>
          </a:p>
        </p:txBody>
      </p:sp>
      <p:sp>
        <p:nvSpPr>
          <p:cNvPr id="19" name="d_4_1"/>
          <p:cNvSpPr/>
          <p:nvPr/>
        </p:nvSpPr>
        <p:spPr>
          <a:xfrm>
            <a:off x="5943600" y="3931920"/>
            <a:ext cx="548640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Yes in Test/Dev, No in Production</a:t>
            </a:r>
          </a:p>
        </p:txBody>
      </p:sp>
      <p:sp>
        <p:nvSpPr>
          <p:cNvPr id="20" name="d_5_0"/>
          <p:cNvSpPr/>
          <p:nvPr/>
        </p:nvSpPr>
        <p:spPr>
          <a:xfrm>
            <a:off x="457200" y="4572000"/>
            <a:ext cx="5486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Segoe UI"/>
              </a:rPr>
              <a:t>Enable Journal Approval?</a:t>
            </a:r>
          </a:p>
        </p:txBody>
      </p:sp>
      <p:sp>
        <p:nvSpPr>
          <p:cNvPr id="21" name="d_5_1"/>
          <p:cNvSpPr/>
          <p:nvPr/>
        </p:nvSpPr>
        <p:spPr>
          <a:xfrm>
            <a:off x="5943600" y="4572000"/>
            <a:ext cx="5486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Yes - internal control and audit trail</a:t>
            </a:r>
          </a:p>
        </p:txBody>
      </p:sp>
      <p:sp>
        <p:nvSpPr>
          <p:cNvPr id="22" name="d_6_0"/>
          <p:cNvSpPr/>
          <p:nvPr/>
        </p:nvSpPr>
        <p:spPr>
          <a:xfrm>
            <a:off x="457200" y="5212080"/>
            <a:ext cx="548640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Segoe UI"/>
              </a:rPr>
              <a:t>Need multi-GAAP?</a:t>
            </a:r>
          </a:p>
        </p:txBody>
      </p:sp>
      <p:sp>
        <p:nvSpPr>
          <p:cNvPr id="23" name="d_6_1"/>
          <p:cNvSpPr/>
          <p:nvPr/>
        </p:nvSpPr>
        <p:spPr>
          <a:xfrm>
            <a:off x="5943600" y="5212080"/>
            <a:ext cx="5486400" cy="5943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Add Secondary Ledger</a:t>
            </a:r>
          </a:p>
        </p:txBody>
      </p:sp>
      <p:sp>
        <p:nvSpPr>
          <p:cNvPr id="24" name="d_7_0"/>
          <p:cNvSpPr/>
          <p:nvPr/>
        </p:nvSpPr>
        <p:spPr>
          <a:xfrm>
            <a:off x="457200" y="5852160"/>
            <a:ext cx="5486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333333"/>
                </a:solidFill>
                <a:latin typeface="Segoe UI"/>
              </a:rPr>
              <a:t>Need group currency?</a:t>
            </a:r>
          </a:p>
        </p:txBody>
      </p:sp>
      <p:sp>
        <p:nvSpPr>
          <p:cNvPr id="25" name="d_7_1"/>
          <p:cNvSpPr/>
          <p:nvPr/>
        </p:nvSpPr>
        <p:spPr>
          <a:xfrm>
            <a:off x="5943600" y="5852160"/>
            <a:ext cx="54864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333333"/>
                </a:solidFill>
                <a:latin typeface="Segoe UI"/>
              </a:rPr>
              <a:t>Add Reporting Currency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Segoe UI"/>
              </a:rPr>
              <a:t>Common Errors During Ledger Creation</a:t>
            </a:r>
          </a:p>
        </p:txBody>
      </p:sp>
      <p:sp>
        <p:nvSpPr>
          <p:cNvPr id="10" name="e_0_0"/>
          <p:cNvSpPr/>
          <p:nvPr/>
        </p:nvSpPr>
        <p:spPr>
          <a:xfrm>
            <a:off x="457200" y="1371600"/>
            <a:ext cx="548640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Segoe UI"/>
              </a:rPr>
              <a:t>Error</a:t>
            </a:r>
          </a:p>
        </p:txBody>
      </p:sp>
      <p:sp>
        <p:nvSpPr>
          <p:cNvPr id="11" name="e_0_1"/>
          <p:cNvSpPr/>
          <p:nvPr/>
        </p:nvSpPr>
        <p:spPr>
          <a:xfrm>
            <a:off x="5943600" y="1371600"/>
            <a:ext cx="54864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Segoe UI"/>
              </a:rPr>
              <a:t>Solution</a:t>
            </a:r>
          </a:p>
        </p:txBody>
      </p:sp>
      <p:sp>
        <p:nvSpPr>
          <p:cNvPr id="12" name="e_1_0"/>
          <p:cNvSpPr/>
          <p:nvPr/>
        </p:nvSpPr>
        <p:spPr>
          <a:xfrm>
            <a:off x="457200" y="205740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E74C3C"/>
                </a:solidFill>
                <a:latin typeface="Segoe UI"/>
              </a:rPr>
              <a:t>COA not available for selection</a:t>
            </a:r>
          </a:p>
        </p:txBody>
      </p:sp>
      <p:sp>
        <p:nvSpPr>
          <p:cNvPr id="13" name="e_1_1"/>
          <p:cNvSpPr/>
          <p:nvPr/>
        </p:nvSpPr>
        <p:spPr>
          <a:xfrm>
            <a:off x="5943600" y="205740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27AE60"/>
                </a:solidFill>
                <a:latin typeface="Segoe UI"/>
              </a:rPr>
              <a:t>Deploy GL# Flexfield first</a:t>
            </a:r>
          </a:p>
        </p:txBody>
      </p:sp>
      <p:sp>
        <p:nvSpPr>
          <p:cNvPr id="14" name="e_2_0"/>
          <p:cNvSpPr/>
          <p:nvPr/>
        </p:nvSpPr>
        <p:spPr>
          <a:xfrm>
            <a:off x="457200" y="2743200"/>
            <a:ext cx="5486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E74C3C"/>
                </a:solidFill>
                <a:latin typeface="Segoe UI"/>
              </a:rPr>
              <a:t>No calendar available</a:t>
            </a:r>
          </a:p>
        </p:txBody>
      </p:sp>
      <p:sp>
        <p:nvSpPr>
          <p:cNvPr id="15" name="e_2_1"/>
          <p:cNvSpPr/>
          <p:nvPr/>
        </p:nvSpPr>
        <p:spPr>
          <a:xfrm>
            <a:off x="5943600" y="2743200"/>
            <a:ext cx="5486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27AE60"/>
                </a:solidFill>
                <a:latin typeface="Segoe UI"/>
              </a:rPr>
              <a:t>Create Accounting Calendar with periods</a:t>
            </a:r>
          </a:p>
        </p:txBody>
      </p:sp>
      <p:sp>
        <p:nvSpPr>
          <p:cNvPr id="16" name="e_3_0"/>
          <p:cNvSpPr/>
          <p:nvPr/>
        </p:nvSpPr>
        <p:spPr>
          <a:xfrm>
            <a:off x="457200" y="342900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E74C3C"/>
                </a:solidFill>
                <a:latin typeface="Segoe UI"/>
              </a:rPr>
              <a:t>Retained Earnings account required</a:t>
            </a:r>
          </a:p>
        </p:txBody>
      </p:sp>
      <p:sp>
        <p:nvSpPr>
          <p:cNvPr id="17" name="e_3_1"/>
          <p:cNvSpPr/>
          <p:nvPr/>
        </p:nvSpPr>
        <p:spPr>
          <a:xfrm>
            <a:off x="5943600" y="342900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27AE60"/>
                </a:solidFill>
                <a:latin typeface="Segoe UI"/>
              </a:rPr>
              <a:t>Create account with type = Equity</a:t>
            </a:r>
          </a:p>
        </p:txBody>
      </p:sp>
      <p:sp>
        <p:nvSpPr>
          <p:cNvPr id="18" name="e_4_0"/>
          <p:cNvSpPr/>
          <p:nvPr/>
        </p:nvSpPr>
        <p:spPr>
          <a:xfrm>
            <a:off x="457200" y="4114800"/>
            <a:ext cx="5486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E74C3C"/>
                </a:solidFill>
                <a:latin typeface="Segoe UI"/>
              </a:rPr>
              <a:t>Accounting Config not complete</a:t>
            </a:r>
          </a:p>
        </p:txBody>
      </p:sp>
      <p:sp>
        <p:nvSpPr>
          <p:cNvPr id="19" name="e_4_1"/>
          <p:cNvSpPr/>
          <p:nvPr/>
        </p:nvSpPr>
        <p:spPr>
          <a:xfrm>
            <a:off x="5943600" y="4114800"/>
            <a:ext cx="5486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27AE60"/>
                </a:solidFill>
                <a:latin typeface="Segoe UI"/>
              </a:rPr>
              <a:t>Manage Acctg Config &gt; Click Complete</a:t>
            </a:r>
          </a:p>
        </p:txBody>
      </p:sp>
      <p:sp>
        <p:nvSpPr>
          <p:cNvPr id="20" name="e_5_0"/>
          <p:cNvSpPr/>
          <p:nvPr/>
        </p:nvSpPr>
        <p:spPr>
          <a:xfrm>
            <a:off x="457200" y="480060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E74C3C"/>
                </a:solidFill>
                <a:latin typeface="Segoe UI"/>
              </a:rPr>
              <a:t>No balancing segment defined</a:t>
            </a:r>
          </a:p>
        </p:txBody>
      </p:sp>
      <p:sp>
        <p:nvSpPr>
          <p:cNvPr id="21" name="e_5_1"/>
          <p:cNvSpPr/>
          <p:nvPr/>
        </p:nvSpPr>
        <p:spPr>
          <a:xfrm>
            <a:off x="5943600" y="4800600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27AE60"/>
                </a:solidFill>
                <a:latin typeface="Segoe UI"/>
              </a:rPr>
              <a:t>Assign GL_BALANCING label to segment</a:t>
            </a:r>
          </a:p>
        </p:txBody>
      </p:sp>
      <p:sp>
        <p:nvSpPr>
          <p:cNvPr id="22" name="e_6_0"/>
          <p:cNvSpPr/>
          <p:nvPr/>
        </p:nvSpPr>
        <p:spPr>
          <a:xfrm>
            <a:off x="457200" y="5486400"/>
            <a:ext cx="5486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E74C3C"/>
                </a:solidFill>
                <a:latin typeface="Segoe UI"/>
              </a:rPr>
              <a:t>No natural account segment</a:t>
            </a:r>
          </a:p>
        </p:txBody>
      </p:sp>
      <p:sp>
        <p:nvSpPr>
          <p:cNvPr id="23" name="e_6_1"/>
          <p:cNvSpPr/>
          <p:nvPr/>
        </p:nvSpPr>
        <p:spPr>
          <a:xfrm>
            <a:off x="5943600" y="5486400"/>
            <a:ext cx="5486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300" dirty="0">
                <a:solidFill>
                  <a:srgbClr val="27AE60"/>
                </a:solidFill>
                <a:latin typeface="Segoe UI"/>
              </a:rPr>
              <a:t>Assign GL_ACCOUNT label to segment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bg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header"/>
          <p:cNvSpPr/>
          <p:nvPr/>
        </p:nvSpPr>
        <p:spPr>
          <a:xfrm>
            <a:off x="457200" y="137160"/>
            <a:ext cx="109728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Segoe UI"/>
              </a:rPr>
              <a:t>After Creating the Primary Ledger - Next Steps</a:t>
            </a:r>
          </a:p>
        </p:txBody>
      </p:sp>
      <p:sp>
        <p:nvSpPr>
          <p:cNvPr id="4" name="next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1. Complete Accounting Configuration (status = COMPLETED)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2. Create Legal Entity and assign to the Ledger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3. Create Business Units and assign to Legal Entity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4. Open first Accounting Period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5. Configure Subledger Options (AP, AR, FA, Cash Mgmt)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6. Set up Security Roles (data access by Business Unit)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7. Load Opening Balances (if migrating from legacy system)</a:t>
            </a:r>
          </a:p>
          <a:p>
            <a:pPr algn="l" marL="457200" indent="-228600">
              <a:buChar char="•"/>
            </a:pPr>
            <a:r>
              <a:rPr lang="en-US" sz="1700" dirty="0">
                <a:solidFill>
                  <a:srgbClr val="333333"/>
                </a:solidFill>
                <a:latin typeface="Segoe UI"/>
              </a:rPr>
              <a:t>8. Start Transacting!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3" name="line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Segoe UI"/>
              </a:rPr>
              <a:t>Summary - Key Takeaways</a:t>
            </a:r>
          </a:p>
        </p:txBody>
      </p:sp>
      <p:sp>
        <p:nvSpPr>
          <p:cNvPr id="5" name="take"/>
          <p:cNvSpPr txBox="1"/>
          <p:nvPr/>
        </p:nvSpPr>
        <p:spPr>
          <a:xfrm>
            <a:off x="914400" y="1371600"/>
            <a:ext cx="10058400" cy="2560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 marL="457200" indent="-228600"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/>
              </a:rPr>
              <a:t>Primary Ledger = COA + Calendar + Currency + Convention</a:t>
            </a:r>
          </a:p>
          <a:p>
            <a:pPr algn="l" marL="457200" indent="-228600"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/>
              </a:rPr>
              <a:t>Every Legal Entity must have exactly ONE Primary Ledger</a:t>
            </a:r>
          </a:p>
          <a:p>
            <a:pPr algn="l" marL="457200" indent="-228600"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/>
              </a:rPr>
              <a:t>Complete ALL prerequisites before creating the ledger</a:t>
            </a:r>
          </a:p>
          <a:p>
            <a:pPr algn="l" marL="457200" indent="-228600"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/>
              </a:rPr>
              <a:t>Accounting Configuration must be COMPLETED before transacting</a:t>
            </a:r>
          </a:p>
          <a:p>
            <a:pPr algn="l" marL="457200" indent="-228600"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/>
              </a:rPr>
              <a:t>Use Secondary Ledger for multi-GAAP needs</a:t>
            </a:r>
          </a:p>
          <a:p>
            <a:pPr algn="l" marL="457200" indent="-228600"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/>
              </a:rPr>
              <a:t>Use Reporting Currency for group currency reporting</a:t>
            </a:r>
          </a:p>
          <a:p>
            <a:pPr algn="l" marL="457200" indent="-228600">
              <a:buChar char="•"/>
            </a:pPr>
            <a:r>
              <a:rPr lang="en-US" sz="1500" dirty="0">
                <a:solidFill>
                  <a:srgbClr val="FFFFFF"/>
                </a:solidFill>
                <a:latin typeface="Segoe UI"/>
              </a:rPr>
              <a:t>Design on paper first - structure CANNOT change after go-live</a:t>
            </a:r>
          </a:p>
        </p:txBody>
      </p:sp>
      <p:sp>
        <p:nvSpPr>
          <p:cNvPr id="6" name="q"/>
          <p:cNvSpPr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4000" b="1" dirty="0">
                <a:solidFill>
                  <a:srgbClr val="E86C00"/>
                </a:solidFill>
                <a:latin typeface="Segoe UI"/>
              </a:rPr>
              <a:t>Questions?</a:t>
            </a:r>
          </a:p>
        </p:txBody>
      </p:sp>
      <p:sp>
        <p:nvSpPr>
          <p:cNvPr id="7" name="ty"/>
          <p:cNvSpPr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Segoe UI"/>
              </a:rPr>
              <a:t>Thank You!</a:t>
            </a:r>
          </a:p>
        </p:txBody>
      </p:sp>
    </p:spTree>
  </p:cSld>
</p:sld>
</file>